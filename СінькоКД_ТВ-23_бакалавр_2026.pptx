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xo 2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4" roundtripDataSignature="AMtx7miNUNXKAPycyqM1onKkKnpjTjp1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8250B6-3367-4ADE-8629-1BA20321F9C0}">
  <a:tblStyle styleId="{328250B6-3367-4ADE-8629-1BA20321F9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2-regular.fntdata"/><Relationship Id="rId11" Type="http://schemas.openxmlformats.org/officeDocument/2006/relationships/slide" Target="slides/slide5.xml"/><Relationship Id="rId22" Type="http://schemas.openxmlformats.org/officeDocument/2006/relationships/font" Target="fonts/Exo2-italic.fntdata"/><Relationship Id="rId10" Type="http://schemas.openxmlformats.org/officeDocument/2006/relationships/slide" Target="slides/slide4.xml"/><Relationship Id="rId21" Type="http://schemas.openxmlformats.org/officeDocument/2006/relationships/font" Target="fonts/Exo2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Exo2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-U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416579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541657990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4165799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541657990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ий слайд">
  <p:cSld name="1_Титульний слайд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1B3A6E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descr="D:\КПИ\works\_ДНВР\Брендбук КПИ\Ресурс 39.png" id="17" name="Google Shape;17;p17"/>
          <p:cNvPicPr preferRelativeResize="0"/>
          <p:nvPr/>
        </p:nvPicPr>
        <p:blipFill rotWithShape="1">
          <a:blip r:embed="rId2">
            <a:alphaModFix/>
          </a:blip>
          <a:srcRect b="45813" l="37949" r="37950" t="0"/>
          <a:stretch/>
        </p:blipFill>
        <p:spPr>
          <a:xfrm>
            <a:off x="88900" y="88927"/>
            <a:ext cx="720000" cy="92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17"/>
          <p:cNvGrpSpPr/>
          <p:nvPr/>
        </p:nvGrpSpPr>
        <p:grpSpPr>
          <a:xfrm>
            <a:off x="897800" y="278525"/>
            <a:ext cx="4555199" cy="522950"/>
            <a:chOff x="360000" y="2952000"/>
            <a:chExt cx="4555199" cy="522950"/>
          </a:xfrm>
        </p:grpSpPr>
        <p:pic>
          <p:nvPicPr>
            <p:cNvPr descr="D:\КПИ\works\_ДНВР\Брендбук КПИ\Ресурс 39.png" id="19" name="Google Shape;19;p17"/>
            <p:cNvPicPr preferRelativeResize="0"/>
            <p:nvPr/>
          </p:nvPicPr>
          <p:blipFill rotWithShape="1">
            <a:blip r:embed="rId2">
              <a:alphaModFix/>
            </a:blip>
            <a:srcRect b="36206" l="10860" r="0" t="54680"/>
            <a:stretch/>
          </p:blipFill>
          <p:spPr>
            <a:xfrm>
              <a:off x="360000" y="2952000"/>
              <a:ext cx="4039625" cy="234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Google Shape;20;p17"/>
            <p:cNvGrpSpPr/>
            <p:nvPr/>
          </p:nvGrpSpPr>
          <p:grpSpPr>
            <a:xfrm>
              <a:off x="360000" y="3240000"/>
              <a:ext cx="4555199" cy="234950"/>
              <a:chOff x="432000" y="3240000"/>
              <a:chExt cx="4555199" cy="234950"/>
            </a:xfrm>
          </p:grpSpPr>
          <p:pic>
            <p:nvPicPr>
              <p:cNvPr descr="D:\КПИ\works\_ДНВР\Брендбук КПИ\Ресурс 39.png" id="21" name="Google Shape;21;p17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0" r="41176" t="64286"/>
              <a:stretch/>
            </p:blipFill>
            <p:spPr>
              <a:xfrm>
                <a:off x="432000" y="3240000"/>
                <a:ext cx="2665776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D:\КПИ\works\_ДНВР\Брендбук КПИ\Ресурс 39.png" id="22" name="Google Shape;22;p17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58824" r="0" t="64286"/>
              <a:stretch/>
            </p:blipFill>
            <p:spPr>
              <a:xfrm>
                <a:off x="3121200" y="3240000"/>
                <a:ext cx="1865999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2002822" y="3571606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2002822" y="4062893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3" type="body"/>
          </p:nvPr>
        </p:nvSpPr>
        <p:spPr>
          <a:xfrm>
            <a:off x="1815180" y="2218628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4" type="body"/>
          </p:nvPr>
        </p:nvSpPr>
        <p:spPr>
          <a:xfrm>
            <a:off x="2002822" y="4680000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5" type="body"/>
          </p:nvPr>
        </p:nvSpPr>
        <p:spPr>
          <a:xfrm>
            <a:off x="863392" y="1260000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1)">
  <p:cSld name="Слайд (варіант 1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/>
          <p:nvPr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" name="Google Shape;3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78" y="4676873"/>
            <a:ext cx="297696" cy="3982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8"/>
          <p:cNvSpPr txBox="1"/>
          <p:nvPr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8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>
  <p:cSld name="Титульний слайд">
    <p:bg>
      <p:bgPr>
        <a:solidFill>
          <a:srgbClr val="1B3A6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КПИ\works\_ДНВР\Брендбук КПИ\Ресурс 39.png" id="36" name="Google Shape;3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06113" y="1282727"/>
            <a:ext cx="4531775" cy="257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2)">
  <p:cSld name="Слайд (варіант 2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0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/>
        </p:nvSpPr>
        <p:spPr>
          <a:xfrm>
            <a:off x="921410" y="4818324"/>
            <a:ext cx="728839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476" y="4431571"/>
            <a:ext cx="483610" cy="64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06" y="4479309"/>
            <a:ext cx="377149" cy="551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3)">
  <p:cSld name="Слайд (варіант 3)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0" name="Google Shape;50;p21"/>
          <p:cNvGrpSpPr/>
          <p:nvPr/>
        </p:nvGrpSpPr>
        <p:grpSpPr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51" name="Google Shape;51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21"/>
          <p:cNvSpPr txBox="1"/>
          <p:nvPr/>
        </p:nvSpPr>
        <p:spPr>
          <a:xfrm>
            <a:off x="346529" y="4835698"/>
            <a:ext cx="72883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4)">
  <p:cSld name="Слайд (варіант 4)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8542" y="4189155"/>
            <a:ext cx="615078" cy="82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7" y="4534779"/>
            <a:ext cx="296688" cy="4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2"/>
          <p:cNvSpPr txBox="1"/>
          <p:nvPr/>
        </p:nvSpPr>
        <p:spPr>
          <a:xfrm>
            <a:off x="571075" y="4578573"/>
            <a:ext cx="3489177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b="1" sz="9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5)">
  <p:cSld name="Слайд (варіант 5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2" name="Google Shape;6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9230" y="4341801"/>
            <a:ext cx="393100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6)">
  <p:cSld name="Слайд (варіант 6)">
    <p:bg>
      <p:bgPr>
        <a:solidFill>
          <a:srgbClr val="1B3A6E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7" name="Google Shape;6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048" y="4341801"/>
            <a:ext cx="429679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xo 2"/>
              <a:buNone/>
              <a:defRPr b="0" i="0" sz="33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541657990_0_27"/>
          <p:cNvSpPr txBox="1"/>
          <p:nvPr/>
        </p:nvSpPr>
        <p:spPr>
          <a:xfrm>
            <a:off x="972000" y="3654774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виконав: студент групи ТВ-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uk-UA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Сінько Костянтин Дмитрович</a:t>
            </a:r>
            <a:endParaRPr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3" name="Google Shape;73;g3e541657990_0_27"/>
          <p:cNvSpPr txBox="1"/>
          <p:nvPr/>
        </p:nvSpPr>
        <p:spPr>
          <a:xfrm>
            <a:off x="330396" y="4132351"/>
            <a:ext cx="8483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керівник: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 асист. Макарчук Андрій Валентинович</a:t>
            </a:r>
            <a:endParaRPr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4" name="Google Shape;74;g3e541657990_0_27"/>
          <p:cNvSpPr txBox="1"/>
          <p:nvPr/>
        </p:nvSpPr>
        <p:spPr>
          <a:xfrm>
            <a:off x="1815180" y="2218628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2800">
                <a:solidFill>
                  <a:srgbClr val="1B3A6E"/>
                </a:solidFill>
                <a:latin typeface="Calibri"/>
                <a:ea typeface="Calibri"/>
                <a:cs typeface="Calibri"/>
                <a:sym typeface="Calibri"/>
              </a:rPr>
              <a:t>Розмірно-універсальні моделі резільєнтності кластерних систем щодо проблеми розщеплення кластера</a:t>
            </a:r>
            <a:endParaRPr b="1" sz="24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5" name="Google Shape;75;g3e541657990_0_27"/>
          <p:cNvSpPr txBox="1"/>
          <p:nvPr/>
        </p:nvSpPr>
        <p:spPr>
          <a:xfrm>
            <a:off x="3942000" y="4752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>
                <a:latin typeface="Calibri"/>
                <a:ea typeface="Calibri"/>
                <a:cs typeface="Calibri"/>
                <a:sym typeface="Calibri"/>
              </a:rPr>
              <a:t>2026</a:t>
            </a:r>
            <a:endParaRPr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6" name="Google Shape;76;g3e541657990_0_27"/>
          <p:cNvSpPr txBox="1"/>
          <p:nvPr/>
        </p:nvSpPr>
        <p:spPr>
          <a:xfrm>
            <a:off x="522000" y="1152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>
                <a:solidFill>
                  <a:srgbClr val="1B3A6E"/>
                </a:solidFill>
                <a:latin typeface="Calibri"/>
                <a:ea typeface="Calibri"/>
                <a:cs typeface="Calibri"/>
                <a:sym typeface="Calibri"/>
              </a:rPr>
              <a:t>Навчально-науковий інститут атомної та теплової енергетики</a:t>
            </a:r>
            <a:endParaRPr b="1" sz="18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7" name="Google Shape;77;g3e541657990_0_27"/>
          <p:cNvSpPr txBox="1"/>
          <p:nvPr/>
        </p:nvSpPr>
        <p:spPr>
          <a:xfrm>
            <a:off x="522000" y="1548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200"/>
              <a:buFont typeface="Arial"/>
              <a:buNone/>
            </a:pPr>
            <a:r>
              <a:rPr b="0" i="0" lang="uk-UA" sz="2200" u="none" cap="none" strike="noStrike">
                <a:solidFill>
                  <a:srgbClr val="1B3A6E"/>
                </a:solidFill>
                <a:latin typeface="Calibri"/>
                <a:ea typeface="Calibri"/>
                <a:cs typeface="Calibri"/>
                <a:sym typeface="Calibri"/>
              </a:rPr>
              <a:t>Кафедра інженерії програмного забезпечення в енергетиці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Актуальність теми</a:t>
            </a:r>
            <a:endParaRPr/>
          </a:p>
        </p:txBody>
      </p:sp>
      <p:sp>
        <p:nvSpPr>
          <p:cNvPr id="83" name="Google Shape;83;p2"/>
          <p:cNvSpPr txBox="1"/>
          <p:nvPr>
            <p:ph idx="2" type="body"/>
          </p:nvPr>
        </p:nvSpPr>
        <p:spPr>
          <a:xfrm>
            <a:off x="328424" y="923228"/>
            <a:ext cx="74172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</a:pPr>
            <a:r>
              <a:rPr lang="uk-UA"/>
              <a:t>Мікросервісна архітектура є одним з найпопулярніших виборів архітектури для програмного забезпечення. Його використовують зокрема Netflix, Amazon, Monobank, Prom </a:t>
            </a:r>
            <a:endParaRPr/>
          </a:p>
        </p:txBody>
      </p:sp>
      <p:pic>
        <p:nvPicPr>
          <p:cNvPr id="84" name="Google Shape;8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25" y="2196199"/>
            <a:ext cx="3862549" cy="12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4">
            <a:alphaModFix/>
          </a:blip>
          <a:srcRect b="8940" l="0" r="0" t="-8940"/>
          <a:stretch/>
        </p:blipFill>
        <p:spPr>
          <a:xfrm>
            <a:off x="4393025" y="2276775"/>
            <a:ext cx="4460676" cy="8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Актуальність теми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>
            <p:ph idx="2" type="body"/>
          </p:nvPr>
        </p:nvSpPr>
        <p:spPr>
          <a:xfrm>
            <a:off x="328424" y="759278"/>
            <a:ext cx="74172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</a:pPr>
            <a:r>
              <a:rPr lang="uk-UA"/>
              <a:t>Такий тип архітектури особливо вразливий перед сучасними викликами у світі та Україні. Збої у мережі призводять до критичних наслідків.</a:t>
            </a:r>
            <a:endParaRPr/>
          </a:p>
        </p:txBody>
      </p:sp>
      <p:pic>
        <p:nvPicPr>
          <p:cNvPr id="93" name="Google Shape;9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395" y="3012100"/>
            <a:ext cx="3650499" cy="8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63" y="2012900"/>
            <a:ext cx="5093350" cy="6366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3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Постановка задачі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 txBox="1"/>
          <p:nvPr>
            <p:ph idx="2" type="body"/>
          </p:nvPr>
        </p:nvSpPr>
        <p:spPr>
          <a:xfrm>
            <a:off x="328425" y="837325"/>
            <a:ext cx="78570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</a:pPr>
            <a:r>
              <a:rPr lang="uk-UA"/>
              <a:t>Проблема розщеплення кластера (ПРК)- це ситуація в розподіленій системі, коли через втрату зв’язку між вузлами кілька частин кластера одночасно вважають себе головними та незалежно роблять записи, що призводить до неконсистентності даних.</a:t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50" y="2043428"/>
            <a:ext cx="8839200" cy="22524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320590" y="416929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Постановка задачі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>
            <p:ph idx="3" type="body"/>
          </p:nvPr>
        </p:nvSpPr>
        <p:spPr>
          <a:xfrm>
            <a:off x="164475" y="1306950"/>
            <a:ext cx="5386500" cy="3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uk-UA" sz="1600"/>
              <a:t>О</a:t>
            </a:r>
            <a:r>
              <a:rPr lang="uk-UA" sz="1600"/>
              <a:t>гляд існуючих підходів до запобігання ПРК та методів машинного навчання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uk-UA" sz="1600"/>
              <a:t>Розробка методики генерації синтетичних навчальних даних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uk-UA" sz="1600"/>
              <a:t>Реалізація трьох базових моделей машинного навчання та трьох ансамблевих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uk-UA" sz="1600"/>
              <a:t>Калібрування ймовірностей та трьох методів пошуку оптимального порогу</a:t>
            </a:r>
            <a:endParaRPr sz="1600"/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uk-UA" sz="1600"/>
              <a:t>Експериментальне дослідження та розробка веб-інтерфейсу</a:t>
            </a:r>
            <a:endParaRPr sz="1600"/>
          </a:p>
        </p:txBody>
      </p:sp>
      <p:pic>
        <p:nvPicPr>
          <p:cNvPr id="110" name="Google Shape;11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975" y="799500"/>
            <a:ext cx="3044950" cy="319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Аналіз предметної області</a:t>
            </a:r>
            <a:endParaRPr/>
          </a:p>
        </p:txBody>
      </p:sp>
      <p:sp>
        <p:nvSpPr>
          <p:cNvPr id="117" name="Google Shape;117;p6"/>
          <p:cNvSpPr txBox="1"/>
          <p:nvPr/>
        </p:nvSpPr>
        <p:spPr>
          <a:xfrm>
            <a:off x="-1050" y="4584600"/>
            <a:ext cx="11889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1889238" y="90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{328250B6-3367-4ADE-8629-1BA20321F9C0}</a:tableStyleId>
              </a:tblPr>
              <a:tblGrid>
                <a:gridCol w="1747950"/>
                <a:gridCol w="1559875"/>
                <a:gridCol w="2057675"/>
              </a:tblGrid>
              <a:tr h="56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900"/>
                        <a:t>Рішення</a:t>
                      </a:r>
                      <a:endParaRPr b="1" sz="19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900"/>
                        <a:t>Підхід</a:t>
                      </a:r>
                      <a:endParaRPr b="1" sz="19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900"/>
                        <a:t>Обмеження</a:t>
                      </a:r>
                      <a:endParaRPr b="1" sz="19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Raft / Paxos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Консенсус кворуму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Реактивний, після ПРК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1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CRDT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Eventual consistency без консенсусу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Обмеженість використання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Системи від AWS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Автовідновлення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900"/>
                        <a:t>Прив'язка до екосистеми</a:t>
                      </a:r>
                      <a:endParaRPr sz="19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6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336215" y="221754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Проектування системи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50" y="596324"/>
            <a:ext cx="4370771" cy="380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>
            <p:ph idx="3" type="body"/>
          </p:nvPr>
        </p:nvSpPr>
        <p:spPr>
          <a:xfrm>
            <a:off x="2291987" y="4304332"/>
            <a:ext cx="74172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uk-UA"/>
              <a:t>Use case діаграма</a:t>
            </a:r>
            <a:endParaRPr/>
          </a:p>
        </p:txBody>
      </p:sp>
      <p:sp>
        <p:nvSpPr>
          <p:cNvPr id="127" name="Google Shape;127;p7"/>
          <p:cNvSpPr txBox="1"/>
          <p:nvPr>
            <p:ph idx="3" type="body"/>
          </p:nvPr>
        </p:nvSpPr>
        <p:spPr>
          <a:xfrm>
            <a:off x="5690712" y="4304332"/>
            <a:ext cx="74172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uk-UA"/>
              <a:t>Д</a:t>
            </a:r>
            <a:r>
              <a:rPr lang="uk-UA"/>
              <a:t>іаграма потоків обробки запиту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2510" y="495125"/>
            <a:ext cx="1195165" cy="38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Реалізація системи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86" y="1188287"/>
            <a:ext cx="1539615" cy="153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125" y="1061675"/>
            <a:ext cx="2802800" cy="151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3724" y="967025"/>
            <a:ext cx="3185025" cy="19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725" y="2896075"/>
            <a:ext cx="3358147" cy="151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1109" y="2680675"/>
            <a:ext cx="1942624" cy="194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80126" y="2774375"/>
            <a:ext cx="1605225" cy="16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351840" y="268604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Реалізація системи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7" name="Google Shape;14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50" y="745224"/>
            <a:ext cx="3899589" cy="380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1139" y="745224"/>
            <a:ext cx="3899589" cy="380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Тестування системи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548640" y="1609441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graphicFrame>
        <p:nvGraphicFramePr>
          <p:cNvPr id="156" name="Google Shape;156;p10"/>
          <p:cNvGraphicFramePr/>
          <p:nvPr/>
        </p:nvGraphicFramePr>
        <p:xfrm>
          <a:off x="251000" y="879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{328250B6-3367-4ADE-8629-1BA20321F9C0}</a:tableStyleId>
              </a:tblPr>
              <a:tblGrid>
                <a:gridCol w="932025"/>
                <a:gridCol w="831750"/>
                <a:gridCol w="875300"/>
                <a:gridCol w="811825"/>
                <a:gridCol w="589875"/>
              </a:tblGrid>
              <a:tr h="439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Модель</a:t>
                      </a:r>
                      <a:endParaRPr b="1"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ROC-AUC</a:t>
                      </a:r>
                      <a:endParaRPr b="1"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Recall</a:t>
                      </a:r>
                      <a:endParaRPr b="1"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FNR</a:t>
                      </a:r>
                      <a:endParaRPr b="1"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ECE</a:t>
                      </a:r>
                      <a:endParaRPr b="1"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CatBoost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0.797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0.778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0.222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0.003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Gradient Boosting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0.775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0.691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0.309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0.005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Random Forest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0.661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0.739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0.261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0.004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E3 (CB Hyper)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0.785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0.703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0.297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0.006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E2 (CB Bias)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0.767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0.728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0.272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0.008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E1 (Mixed)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0.766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0.720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0.280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-UA" sz="1200">
                          <a:latin typeface="Exo 2"/>
                          <a:ea typeface="Exo 2"/>
                          <a:cs typeface="Exo 2"/>
                          <a:sym typeface="Exo 2"/>
                        </a:rPr>
                        <a:t>0.014</a:t>
                      </a:r>
                      <a:endParaRPr sz="12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5125" y="776452"/>
            <a:ext cx="4699400" cy="35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541657990_0_87"/>
          <p:cNvSpPr txBox="1"/>
          <p:nvPr>
            <p:ph idx="1" type="body"/>
          </p:nvPr>
        </p:nvSpPr>
        <p:spPr>
          <a:xfrm>
            <a:off x="328415" y="323254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Впровадження та супровід</a:t>
            </a:r>
            <a:endParaRPr/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4" name="Google Shape;164;g3e541657990_0_87"/>
          <p:cNvPicPr preferRelativeResize="0"/>
          <p:nvPr/>
        </p:nvPicPr>
        <p:blipFill rotWithShape="1">
          <a:blip r:embed="rId3">
            <a:alphaModFix/>
          </a:blip>
          <a:srcRect b="0" l="0" r="12656" t="0"/>
          <a:stretch/>
        </p:blipFill>
        <p:spPr>
          <a:xfrm>
            <a:off x="709900" y="930025"/>
            <a:ext cx="5883551" cy="120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e541657990_0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624" y="2139175"/>
            <a:ext cx="3785300" cy="231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e541657990_0_87"/>
          <p:cNvPicPr preferRelativeResize="0"/>
          <p:nvPr/>
        </p:nvPicPr>
        <p:blipFill rotWithShape="1">
          <a:blip r:embed="rId5">
            <a:alphaModFix/>
          </a:blip>
          <a:srcRect b="0" l="0" r="19634" t="0"/>
          <a:stretch/>
        </p:blipFill>
        <p:spPr>
          <a:xfrm>
            <a:off x="4385875" y="2139175"/>
            <a:ext cx="4719075" cy="244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e541657990_0_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3455" y="323250"/>
            <a:ext cx="2550535" cy="18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e541657990_0_87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328415" y="385704"/>
            <a:ext cx="551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lang="uk-UA"/>
              <a:t>Висновки</a:t>
            </a:r>
            <a:endParaRPr/>
          </a:p>
        </p:txBody>
      </p:sp>
      <p:sp>
        <p:nvSpPr>
          <p:cNvPr id="174" name="Google Shape;174;p12"/>
          <p:cNvSpPr txBox="1"/>
          <p:nvPr>
            <p:ph idx="3" type="body"/>
          </p:nvPr>
        </p:nvSpPr>
        <p:spPr>
          <a:xfrm>
            <a:off x="328425" y="1267575"/>
            <a:ext cx="8334900" cy="3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uk-UA" sz="1700"/>
              <a:t>Проведено огляд існуючих підходів та методів машинного навчання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uk-UA" sz="1700"/>
              <a:t>Розроблено методику генерації синтетичних даних та постановку задачі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uk-UA" sz="1700"/>
              <a:t>Реалізовано три базові та три ансамблеві моделі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uk-UA" sz="1700"/>
              <a:t>Реалізовано калібрування ймовірностей та методи вибору порогу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uk-UA" sz="1700"/>
              <a:t>Проведено експериментальні дослідження та розроблено веб-інтерфейс</a:t>
            </a:r>
            <a:endParaRPr sz="1700"/>
          </a:p>
        </p:txBody>
      </p:sp>
      <p:sp>
        <p:nvSpPr>
          <p:cNvPr id="175" name="Google Shape;175;p12"/>
          <p:cNvSpPr txBox="1"/>
          <p:nvPr/>
        </p:nvSpPr>
        <p:spPr>
          <a:xfrm>
            <a:off x="6022575" y="4704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1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2020-04-02T13:49:33Z</dcterms:created>
</cp:coreProperties>
</file>